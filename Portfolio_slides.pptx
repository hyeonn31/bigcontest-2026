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46A73"/>
                </a:solidFill>
                <a:latin typeface="맑은 고딕"/>
              </a:rPr>
              <a:t>데이터 분석 포트폴리오  ·  개인 프로젝트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1D1F23"/>
                </a:solidFill>
                <a:latin typeface="맑은 고딕"/>
              </a:rPr>
              <a:t>비가 오면, 어떤 상권이</a:t>
            </a:r>
          </a:p>
          <a:p>
            <a:pPr algn="l">
              <a:lnSpc>
                <a:spcPct val="110000"/>
              </a:lnSpc>
            </a:pPr>
            <a:r>
              <a:rPr sz="4400" b="1">
                <a:solidFill>
                  <a:srgbClr val="1D1F23"/>
                </a:solidFill>
                <a:latin typeface="맑은 고딕"/>
              </a:rPr>
              <a:t>더 크게 흔들리는가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46A73"/>
                </a:solidFill>
                <a:latin typeface="맑은 고딕"/>
              </a:rPr>
              <a:t>카드소비 · 유동인구 · 기상 데이터로 본 기후위기 취약상권 분석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646A73"/>
                </a:solidFill>
                <a:latin typeface="맑은 고딕"/>
              </a:rPr>
              <a:t>서울 강남구 vs 강원 춘천시, 2025년 하반기 184일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6A73"/>
                </a:solidFill>
                <a:latin typeface="맑은 고딕"/>
              </a:rPr>
              <a:t>2026 빅콘테스트 AI데이터분석 분야 출품   |   github.com/hyeonn31/bigcontest-2026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46A73"/>
                </a:solidFill>
                <a:latin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D1F23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6A73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B6FA0"/>
                </a:solidFill>
                <a:latin typeface="맑은 고딕"/>
              </a:rPr>
              <a:t>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73736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호우·폭염이 상권 소비를 얼마나 줄이는가? 그 충격은 상권마다 어떻게 다른가?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395728"/>
            <a:ext cx="10881360" cy="0"/>
          </a:xfrm>
          <a:prstGeom prst="line">
            <a:avLst/>
          </a:prstGeom>
          <a:ln>
            <a:solidFill>
              <a:srgbClr val="E6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523744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B6FA0"/>
                </a:solidFill>
                <a:latin typeface="맑은 고딕"/>
              </a:rPr>
              <a:t>기간 · 형태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523744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2026.09 ~ 10  ·  개인 프로젝트 (2026 빅콘테스트 AI데이터분석 분야)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182111"/>
            <a:ext cx="10881360" cy="0"/>
          </a:xfrm>
          <a:prstGeom prst="line">
            <a:avLst/>
          </a:prstGeom>
          <a:ln>
            <a:solidFill>
              <a:srgbClr val="E6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310127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B6FA0"/>
                </a:solidFill>
                <a:latin typeface="맑은 고딕"/>
              </a:rPr>
              <a:t>내 역할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310127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전 과정 단독 수행: 데이터 정제·병합 → 가설·통계 검정 → 강건성 검증 → 시각화·보고서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968496"/>
            <a:ext cx="10881360" cy="0"/>
          </a:xfrm>
          <a:prstGeom prst="line">
            <a:avLst/>
          </a:prstGeom>
          <a:ln>
            <a:solidFill>
              <a:srgbClr val="E6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096511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B6FA0"/>
                </a:solidFill>
                <a:latin typeface="맑은 고딕"/>
              </a:rPr>
              <a:t>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096511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신한카드 소비 104만 + 180만 행, SK텔레콤 유동인구, 기상청 ASOS 시간자료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754879"/>
            <a:ext cx="10881360" cy="0"/>
          </a:xfrm>
          <a:prstGeom prst="line">
            <a:avLst/>
          </a:prstGeom>
          <a:ln>
            <a:solidFill>
              <a:srgbClr val="E6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882896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B6FA0"/>
                </a:solidFill>
                <a:latin typeface="맑은 고딕"/>
              </a:rPr>
              <a:t>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882896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로그선형 회귀(OLS) + HAC 표준오차, FDR 다중검정 보정, 상호작용항, 강건성 점검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5541264"/>
            <a:ext cx="10881360" cy="0"/>
          </a:xfrm>
          <a:prstGeom prst="line">
            <a:avLst/>
          </a:prstGeom>
          <a:ln>
            <a:solidFill>
              <a:srgbClr val="E6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66928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B6FA0"/>
                </a:solidFill>
                <a:latin typeface="맑은 고딕"/>
              </a:rPr>
              <a:t>도구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566928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Python (pandas · statsmodels · scipy · matplotlib · python-pptx), Git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327648"/>
            <a:ext cx="10881360" cy="0"/>
          </a:xfrm>
          <a:prstGeom prst="line">
            <a:avLst/>
          </a:prstGeom>
          <a:ln>
            <a:solidFill>
              <a:srgbClr val="E6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46A73"/>
                </a:solidFill>
                <a:latin typeface="맑은 고딕"/>
              </a:rPr>
              <a:t>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D1F23"/>
                </a:solidFill>
                <a:latin typeface="맑은 고딕"/>
              </a:rPr>
              <a:t>한 문장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6A73"/>
                </a:solidFill>
                <a:latin typeface="맑은 고딕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1188720"/>
          </a:xfrm>
          <a:prstGeom prst="roundRect">
            <a:avLst>
              <a:gd name="adj" fmla="val 9230"/>
            </a:avLst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D1F23"/>
                </a:solidFill>
                <a:latin typeface="맑은 고딕"/>
              </a:rPr>
              <a:t>기후위기는 상권을 균일하게 위협하지 않는다. 외지 방문객 매출 비중이 높은 관광의존형 상권은</a:t>
            </a:r>
          </a:p>
          <a:p>
            <a:pPr algn="l">
              <a:lnSpc>
                <a:spcPct val="135000"/>
              </a:lnSpc>
            </a:pPr>
            <a:r>
              <a:rPr sz="1700" b="1">
                <a:solidFill>
                  <a:srgbClr val="1D1F23"/>
                </a:solidFill>
                <a:latin typeface="맑은 고딕"/>
              </a:rPr>
              <a:t>호우 시 방문객 소비가 지역주민보다 훨씬 크게 줄어 구조적으로 취약하다.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6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342900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D45B5B"/>
                </a:solidFill>
                <a:latin typeface="맑은 고딕"/>
              </a:rPr>
              <a:t>−19.1%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443484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6A73"/>
                </a:solidFill>
                <a:latin typeface="맑은 고딕"/>
              </a:rPr>
              <a:t>춘천 호우일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6A73"/>
                </a:solidFill>
                <a:latin typeface="맑은 고딕"/>
              </a:rPr>
              <a:t>타 시도 방문객 소비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20040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6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42900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3B6FA0"/>
                </a:solidFill>
                <a:latin typeface="맑은 고딕"/>
              </a:rPr>
              <a:t>−6.4%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43484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6A73"/>
                </a:solidFill>
                <a:latin typeface="맑은 고딕"/>
              </a:rPr>
              <a:t>같은 날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6A73"/>
                </a:solidFill>
                <a:latin typeface="맑은 고딕"/>
              </a:rPr>
              <a:t>동일 시도 거주자 소비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20040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6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342900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D1F23"/>
                </a:solidFill>
                <a:latin typeface="맑은 고딕"/>
              </a:rPr>
              <a:t>약 3배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443484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6A73"/>
                </a:solidFill>
                <a:latin typeface="맑은 고딕"/>
              </a:rPr>
              <a:t>방문객이 더 크게 감소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6A73"/>
                </a:solidFill>
                <a:latin typeface="맑은 고딕"/>
              </a:rPr>
              <a:t>(두 값 모두 p&lt;0.001)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6A73"/>
                </a:solidFill>
                <a:latin typeface="맑은 고딕"/>
              </a:rPr>
              <a:t>효과 = 같은 달·같은 요일·공휴일 여부를 통제한 뒤 '비 안 온 평범한 날' 대비 소비 변화율.  호우 = 일 강수량 30mm 이상.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46A73"/>
                </a:solidFill>
                <a:latin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D1F23"/>
                </a:solidFill>
                <a:latin typeface="맑은 고딕"/>
              </a:rPr>
              <a:t>단위가 다른 3종 데이터를 '하루 × 지역' 표 하나로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6A73"/>
                </a:solidFill>
                <a:latin typeface="맑은 고딕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12064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solidFill>
              <a:srgbClr val="E6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D1F23"/>
                </a:solidFill>
                <a:latin typeface="맑은 고딕"/>
              </a:rPr>
              <a:t>신한카드 소비 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8483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6A73"/>
                </a:solidFill>
                <a:latin typeface="맑은 고딕"/>
              </a:rPr>
              <a:t>104만 행  ·  일×지역×업종×시간대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512064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solidFill>
              <a:srgbClr val="E6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79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D1F23"/>
                </a:solidFill>
                <a:latin typeface="맑은 고딕"/>
              </a:rPr>
              <a:t>신한카드 소비 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9923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6A73"/>
                </a:solidFill>
                <a:latin typeface="맑은 고딕"/>
              </a:rPr>
              <a:t>180만 행  ·  일×지역×업종×고객 거주지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512064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solidFill>
              <a:srgbClr val="E6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935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D1F23"/>
                </a:solidFill>
                <a:latin typeface="맑은 고딕"/>
              </a:rPr>
              <a:t>SK텔레콤 유동인구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1363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6A73"/>
                </a:solidFill>
                <a:latin typeface="맑은 고딕"/>
              </a:rPr>
              <a:t>월별 3종×6개월  ·  월×50m 격자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12064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solidFill>
              <a:srgbClr val="E6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079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D1F23"/>
                </a:solidFill>
                <a:latin typeface="맑은 고딕"/>
              </a:rPr>
              <a:t>기상청 ASOS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28031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6A73"/>
                </a:solidFill>
                <a:latin typeface="맑은 고딕"/>
              </a:rPr>
              <a:t>시간자료 2지점  ·  시간×관측소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40679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40679"/>
            <a:ext cx="5120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3B6FA0"/>
                </a:solidFill>
                <a:latin typeface="맑은 고딕"/>
              </a:rPr>
              <a:t>→  merged_daily.csv  (368행 = 184일 × 2지역)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6916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D1F23"/>
                </a:solidFill>
                <a:latin typeface="맑은 고딕"/>
              </a:rPr>
              <a:t>정제 과정에서 잡아낸 데이터 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2402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45B5B"/>
                </a:solidFill>
                <a:latin typeface="맑은 고딕"/>
              </a:rPr>
              <a:t>· SK 12월 파일 중복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587752"/>
            <a:ext cx="5029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6A73"/>
                </a:solidFill>
                <a:latin typeface="맑은 고딕"/>
              </a:rPr>
              <a:t>모든 행이 두 번씩 들어 있어 12월 유동인구가 2배로 부풀어 있었음 → 중복 제거 후 재집계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2918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45B5B"/>
                </a:solidFill>
                <a:latin typeface="맑은 고딕"/>
              </a:rPr>
              <a:t>· 강수량 빈칸의 정체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639312"/>
            <a:ext cx="5029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6A73"/>
                </a:solidFill>
                <a:latin typeface="맑은 고딕"/>
              </a:rPr>
              <a:t>결측 표기 1,496건이 '비 없음'인지 습도·이슬점 조건으로 간접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3434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45B5B"/>
                </a:solidFill>
                <a:latin typeface="맑은 고딕"/>
              </a:rPr>
              <a:t>· 12/31 기상 누락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690872"/>
            <a:ext cx="5029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6A73"/>
                </a:solidFill>
                <a:latin typeface="맑은 고딕"/>
              </a:rPr>
              <a:t>기상청 날짜 기준(01~24시) 때문에 빠진 마지막 날을 추가 수집해 보완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3949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45B5B"/>
                </a:solidFill>
                <a:latin typeface="맑은 고딕"/>
              </a:rPr>
              <a:t>· 세금·미분류 결제 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742432"/>
            <a:ext cx="5029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46A73"/>
                </a:solidFill>
                <a:latin typeface="맑은 고딕"/>
              </a:rPr>
              <a:t>소수 거액 결제가 일 합계를 좌우 → 이를 뺀 '핵심 소비'를 새로 정의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46A73"/>
                </a:solidFill>
                <a:latin typeface="맑은 고딕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D1F23"/>
                </a:solidFill>
                <a:latin typeface="맑은 고딕"/>
              </a:rPr>
              <a:t>가설을 세우고, 틀리면 좁혔다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6A73"/>
                </a:solidFill>
                <a:latin typeface="맑은 고딕"/>
              </a:rPr>
              <a:t>5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D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719072"/>
            <a:ext cx="7315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solidFill>
              <a:srgbClr val="2F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F7D5B"/>
                </a:solidFill>
                <a:latin typeface="맑은 고딕"/>
              </a:rPr>
              <a:t>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4592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D1F23"/>
                </a:solidFill>
                <a:latin typeface="맑은 고딕"/>
              </a:rPr>
              <a:t>첫 탐색: '기후 효과 없음'?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57400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6A73"/>
                </a:solidFill>
                <a:latin typeface="맑은 고딕"/>
              </a:rPr>
              <a:t>세금·미분류 거액 결제가 신호를 덮고 있었음 → '핵심 소비'로 재검정하자 춘천 호우 효과가 드러남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1D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651760"/>
            <a:ext cx="7315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solidFill>
              <a:srgbClr val="2F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F7D5B"/>
                </a:solidFill>
                <a:latin typeface="맑은 고딕"/>
              </a:rPr>
              <a:t>보완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578608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D1F23"/>
                </a:solidFill>
                <a:latin typeface="맑은 고딕"/>
              </a:rPr>
              <a:t>검정 방법 업그레이드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90088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6A73"/>
                </a:solidFill>
                <a:latin typeface="맑은 고딕"/>
              </a:rPr>
              <a:t>순열검정의 약점(자기상관·공휴일·다중검정) → 회귀 + HAC 표준오차 + FDR 보정으로 재분석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57016"/>
            <a:ext cx="457200" cy="457200"/>
          </a:xfrm>
          <a:prstGeom prst="ellipse">
            <a:avLst/>
          </a:prstGeom>
          <a:solidFill>
            <a:srgbClr val="1D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584448"/>
            <a:ext cx="7315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solidFill>
              <a:srgbClr val="A85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A8552F"/>
                </a:solidFill>
                <a:latin typeface="맑은 고딕"/>
              </a:rPr>
              <a:t>기각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511296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D1F23"/>
                </a:solidFill>
                <a:latin typeface="맑은 고딕"/>
              </a:rPr>
              <a:t>가설 A: 방문객 많은 업종일수록 취약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922776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6A73"/>
                </a:solidFill>
                <a:latin typeface="맑은 고딕"/>
              </a:rPr>
              <a:t>업종별 방문객 비중 vs 비 효과 상관 ρ = −0.04(춘천), 0.16(강남) → 관계 없음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489704"/>
            <a:ext cx="457200" cy="457200"/>
          </a:xfrm>
          <a:prstGeom prst="ellipse">
            <a:avLst/>
          </a:prstGeom>
          <a:solidFill>
            <a:srgbClr val="1D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517136"/>
            <a:ext cx="7315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solidFill>
              <a:srgbClr val="A85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A8552F"/>
                </a:solidFill>
                <a:latin typeface="맑은 고딕"/>
              </a:rPr>
              <a:t>기각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443984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D1F23"/>
                </a:solidFill>
                <a:latin typeface="맑은 고딕"/>
              </a:rPr>
              <a:t>가설 B: 강남은 지하철·지하상가가 방어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55464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6A73"/>
                </a:solidFill>
                <a:latin typeface="맑은 고딕"/>
              </a:rPr>
              <a:t>두 지역 차이를 상호작용항으로 직접 검정 → p = 0.40, 지역 간 비교 주장은 하지 않음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422392"/>
            <a:ext cx="457200" cy="457200"/>
          </a:xfrm>
          <a:prstGeom prst="ellipse">
            <a:avLst/>
          </a:prstGeom>
          <a:solidFill>
            <a:srgbClr val="1D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449824"/>
            <a:ext cx="73152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solidFill>
              <a:srgbClr val="2F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F7D5B"/>
                </a:solidFill>
                <a:latin typeface="맑은 고딕"/>
              </a:rPr>
              <a:t>채택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37667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D1F23"/>
                </a:solidFill>
                <a:latin typeface="맑은 고딕"/>
              </a:rPr>
              <a:t>최종: 범위는 좁게, 근거는 단단하게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788152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6A73"/>
                </a:solidFill>
                <a:latin typeface="맑은 고딕"/>
              </a:rPr>
              <a:t>춘천 안에서 방문객 vs 지역주민 차이(신뢰구간 겹치지 않음) → '외지 방문객 매출 비중'을 취약도 지표로 제안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46A73"/>
                </a:solidFill>
                <a:latin typeface="맑은 고딕"/>
              </a:rPr>
              <a:t>RESULT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D1F23"/>
                </a:solidFill>
                <a:latin typeface="맑은 고딕"/>
              </a:rPr>
              <a:t>지역 전체로 보면, 결론이 애매하다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6A73"/>
                </a:solidFill>
                <a:latin typeface="맑은 고딕"/>
              </a:rPr>
              <a:t>6</a:t>
            </a:r>
          </a:p>
        </p:txBody>
      </p:sp>
      <p:pic>
        <p:nvPicPr>
          <p:cNvPr id="5" name="Picture 4" descr="pt_01_reg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33984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2011680"/>
            <a:ext cx="4389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D1F23"/>
                </a:solidFill>
                <a:latin typeface="맑은 고딕"/>
              </a:rPr>
              <a:t>호우일 핵심 소비 변화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· 강남 −11.0%  (p = 0.069)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   95% 신뢰구간이 0을 포함 → 불확실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· 춘천 −8.6%  (p &lt; 0.001)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1D1F23"/>
                </a:solidFill>
                <a:latin typeface="맑은 고딕"/>
              </a:rPr>
              <a:t>두 지역 차이를 직접 검정하면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· 상호작용항 p = 0.40 → 차이 근거 없음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→ '어느 지역이 더 취약한가'만으로는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   답할 수 없다. 고객을 나눠 봐야 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46A73"/>
                </a:solidFill>
                <a:latin typeface="맑은 고딕"/>
              </a:rPr>
              <a:t>RESULT ②  ·  핵심 발견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D1F23"/>
                </a:solidFill>
                <a:latin typeface="맑은 고딕"/>
              </a:rPr>
              <a:t>고객 구성으로 나누면, 뚜렷하다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6A73"/>
                </a:solidFill>
                <a:latin typeface="맑은 고딕"/>
              </a:rPr>
              <a:t>7</a:t>
            </a:r>
          </a:p>
        </p:txBody>
      </p:sp>
      <p:pic>
        <p:nvPicPr>
          <p:cNvPr id="5" name="Picture 4" descr="pt_02_visitor_local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2011680"/>
            <a:ext cx="4206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D1F23"/>
                </a:solidFill>
                <a:latin typeface="맑은 고딕"/>
              </a:rPr>
              <a:t>춘천, 호우일 (18일)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· 타 시도 방문객  −19.1%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   95% CI  −25.0% ~ −12.7%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· 동일 시도 거주자  −6.4%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   95% CI  −9.9% ~ −2.7%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두 신뢰구간이 겹치지 않음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→ 방문객이 확실히 더 크게 줄어든다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F23"/>
                </a:solidFill>
                <a:latin typeface="맑은 고딕"/>
              </a:rPr>
              <a:t>강남은 두 그룹 모두 유의하지 않음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46A73"/>
                </a:solidFill>
                <a:latin typeface="맑은 고딕"/>
              </a:rPr>
              <a:t>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D1F23"/>
                </a:solidFill>
                <a:latin typeface="맑은 고딕"/>
              </a:rPr>
              <a:t>'30mm를 골라서 나온 우연' 아닌가?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6A73"/>
                </a:solidFill>
                <a:latin typeface="맑은 고딕"/>
              </a:rPr>
              <a:t>8</a:t>
            </a:r>
          </a:p>
        </p:txBody>
      </p:sp>
      <p:pic>
        <p:nvPicPr>
          <p:cNvPr id="5" name="Picture 4" descr="pt_03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65018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82880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F7D5B"/>
                </a:solidFill>
                <a:latin typeface="맑은 고딕"/>
              </a:rPr>
              <a:t>✓  호우 기준값 15~40mm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212848"/>
            <a:ext cx="39776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6A73"/>
                </a:solidFill>
                <a:latin typeface="맑은 고딕"/>
              </a:rPr>
              <a:t>6단계 모두 방문객(−17.6~−19.5%)이 지역주민(−5.9~−9.0%)보다 크게 감소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15468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F7D5B"/>
                </a:solidFill>
                <a:latin typeface="맑은 고딕"/>
              </a:rPr>
              <a:t>✓  전일 강수 지연효과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3538728"/>
            <a:ext cx="39776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6A73"/>
                </a:solidFill>
                <a:latin typeface="맑은 고딕"/>
              </a:rPr>
              <a:t>'어제 호우' 변수 추가 → 지연효과 없음(p=0.46~0.73), 당일 효과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448056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F7D5B"/>
                </a:solidFill>
                <a:latin typeface="맑은 고딕"/>
              </a:rPr>
              <a:t>✓  폭염 기준 30~35℃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864608"/>
            <a:ext cx="39776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6A73"/>
                </a:solidFill>
                <a:latin typeface="맑은 고딕"/>
              </a:rPr>
              <a:t>전 구간 유의하지 않음 → 원 결론과 일치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46A73"/>
                </a:solidFill>
                <a:latin typeface="맑은 고딕"/>
              </a:rPr>
              <a:t>IMPACT &amp;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D1F23"/>
                </a:solidFill>
                <a:latin typeface="맑은 고딕"/>
              </a:rPr>
              <a:t>어디에 쓸 수 있고, 무엇을 말하지 않는가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6A73"/>
                </a:solidFill>
                <a:latin typeface="맑은 고딕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3B6FA0"/>
                </a:solidFill>
                <a:latin typeface="맑은 고딕"/>
              </a:rPr>
              <a:t>시사점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D1F23"/>
                </a:solidFill>
                <a:latin typeface="맑은 고딕"/>
              </a:rPr>
              <a:t>지자체 · 관광공사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96312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6A73"/>
                </a:solidFill>
                <a:latin typeface="맑은 고딕"/>
              </a:rPr>
              <a:t>고객 거주지 비중만으로 설문 없이 '상권 기후 취약도' 저비용 모니터링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D1F23"/>
                </a:solidFill>
                <a:latin typeface="맑은 고딕"/>
              </a:rPr>
              <a:t>카드사 · 금융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39312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6A73"/>
                </a:solidFill>
                <a:latin typeface="맑은 고딕"/>
              </a:rPr>
              <a:t>업종·지역별 비 민감도를 날씨 연동 소상공인 상품의 초기 리스크 근거로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D1F23"/>
                </a:solidFill>
                <a:latin typeface="맑은 고딕"/>
              </a:rPr>
              <a:t>일반화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82312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6A73"/>
                </a:solidFill>
                <a:latin typeface="맑은 고딕"/>
              </a:rPr>
              <a:t>'외지 방문객 매출 비중' 지표는 다른 관광도시에도 같은 방법으로 적용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5120640" cy="4480560"/>
          </a:xfrm>
          <a:prstGeom prst="roundRect">
            <a:avLst>
              <a:gd name="adj" fmla="val 2448"/>
            </a:avLst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D45B5B"/>
                </a:solidFill>
                <a:latin typeface="맑은 고딕"/>
              </a:rPr>
              <a:t>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331720"/>
            <a:ext cx="46634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D1F23"/>
                </a:solidFill>
                <a:latin typeface="맑은 고딕"/>
              </a:rPr>
              <a:t>· 기상 관측소 도시당 1곳 — 강남구는 약 10km 떨어진 종로구 관측소 값으로 대체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D1F23"/>
                </a:solidFill>
                <a:latin typeface="맑은 고딕"/>
              </a:rPr>
              <a:t>· SK 유동인구는 월×요일 평균 패턴 → 검정에는 쓰지 않고 배경 지표로만 사용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D1F23"/>
                </a:solidFill>
                <a:latin typeface="맑은 고딕"/>
              </a:rPr>
              <a:t>· 비교 지역 2곳뿐 → 지역 간 비교의 검정력 한계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D1F23"/>
                </a:solidFill>
                <a:latin typeface="맑은 고딕"/>
              </a:rPr>
              <a:t>· 연관성 분석이며 인과관계를 확정한 것은 아님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46A73"/>
                </a:solidFill>
                <a:latin typeface="맑은 고딕"/>
              </a:rPr>
              <a:t>SKILLS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D1F23"/>
                </a:solidFill>
                <a:latin typeface="맑은 고딕"/>
              </a:rPr>
              <a:t>사용한 기술과 얻은 교훈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6A73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B6FA0"/>
                </a:solidFill>
                <a:latin typeface="맑은 고딕"/>
              </a:rPr>
              <a:t>전처리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91640"/>
            <a:ext cx="3840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D1F23"/>
                </a:solidFill>
                <a:latin typeface="맑은 고딕"/>
              </a:rPr>
              <a:t>인코딩 변환, 좌표 격자 → 행정구역 공간 집계, 다중 소스 병합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B6FA0"/>
                </a:solidFill>
                <a:latin typeface="맑은 고딕"/>
              </a:rPr>
              <a:t>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23160"/>
            <a:ext cx="3840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D1F23"/>
                </a:solidFill>
                <a:latin typeface="맑은 고딕"/>
              </a:rPr>
              <a:t>결측·중복·이상치 점검, 치우친 분포의 로그 변환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B6FA0"/>
                </a:solidFill>
                <a:latin typeface="맑은 고딕"/>
              </a:rPr>
              <a:t>가설검정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154680"/>
            <a:ext cx="3840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D1F23"/>
                </a:solidFill>
                <a:latin typeface="맑은 고딕"/>
              </a:rPr>
              <a:t>OLS 로그선형 회귀 + HAC, 순열검정, 스피어만 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B6FA0"/>
                </a:solidFill>
                <a:latin typeface="맑은 고딕"/>
              </a:rPr>
              <a:t>보정 ·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886200"/>
            <a:ext cx="3840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D1F23"/>
                </a:solidFill>
                <a:latin typeface="맑은 고딕"/>
              </a:rPr>
              <a:t>FDR(Benjamini–Hochberg), 상호작용항, 95% 신뢰구간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B6FA0"/>
                </a:solidFill>
                <a:latin typeface="맑은 고딕"/>
              </a:rPr>
              <a:t>강건성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617720"/>
            <a:ext cx="3840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D1F23"/>
                </a:solidFill>
                <a:latin typeface="맑은 고딕"/>
              </a:rPr>
              <a:t>임계값 민감도 분석, 시차(lag) 효과 검정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B6FA0"/>
                </a:solidFill>
                <a:latin typeface="맑은 고딕"/>
              </a:rPr>
              <a:t>재현성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349240"/>
            <a:ext cx="3840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D1F23"/>
                </a:solidFill>
                <a:latin typeface="맑은 고딕"/>
              </a:rPr>
              <a:t>공통 모듈화, 상대경로, 코드로 그래프·슬라이드 생성, Git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645920"/>
            <a:ext cx="5120640" cy="4480560"/>
          </a:xfrm>
          <a:prstGeom prst="roundRect">
            <a:avLst>
              <a:gd name="adj" fmla="val 2448"/>
            </a:avLst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8288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D1F23"/>
                </a:solidFill>
                <a:latin typeface="맑은 고딕"/>
              </a:rPr>
              <a:t>얻은 교훈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331720"/>
            <a:ext cx="46634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D1F23"/>
                </a:solidFill>
                <a:latin typeface="맑은 고딕"/>
              </a:rPr>
              <a:t>'효과 없음'도 의심한다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D1F23"/>
                </a:solidFill>
                <a:latin typeface="맑은 고딕"/>
              </a:rPr>
              <a:t>첫 결과를 그대로 믿었다면 핵심 발견을 놓쳤다. 데이터 구성을 들여다본 것이 결론을 바꿨다.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1">
                <a:solidFill>
                  <a:srgbClr val="1D1F23"/>
                </a:solidFill>
                <a:latin typeface="맑은 고딕"/>
              </a:rPr>
              <a:t>그럴듯한 이야기보다 직접 검정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D1F23"/>
                </a:solidFill>
                <a:latin typeface="맑은 고딕"/>
              </a:rPr>
              <a:t>지역별 결과를 따로 읽고 내린 해석이, 차이 자체를 검정하자 근거가 없었다.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50" b="1">
                <a:solidFill>
                  <a:srgbClr val="1D1F23"/>
                </a:solidFill>
                <a:latin typeface="맑은 고딕"/>
              </a:rPr>
              <a:t>주장의 크기를 근거에 맞춘다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D1F23"/>
                </a:solidFill>
                <a:latin typeface="맑은 고딕"/>
              </a:rPr>
              <a:t>범위를 좁힌 주장이 더 설득력 있었다.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6A73"/>
                </a:solidFill>
                <a:latin typeface="맑은 고딕"/>
              </a:rPr>
              <a:t>코드 · 상세 보고서: github.com/hyeonn31/bigcontest-2026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