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222222"/>
                </a:solidFill>
                <a:latin typeface="맑은 고딕"/>
              </a:rPr>
              <a:t>기후위기 취약상권 영향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8C8C8C"/>
                </a:solidFill>
                <a:latin typeface="맑은 고딕"/>
              </a:rPr>
              <a:t>서울 강남구 vs 강원 춘천시 — 2025.07~12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C8C8C"/>
                </a:solidFill>
                <a:latin typeface="맑은 고딕"/>
              </a:rPr>
              <a:t>2026 빅콘테스트 · AI데이터분석 분야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2222"/>
                </a:solidFill>
                <a:latin typeface="맑은 고딕"/>
              </a:rPr>
              <a:t>기후위기가 상권에 영향을 준다는 건 다들 짐작하지만,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3B6FA0"/>
                </a:solidFill>
                <a:latin typeface="맑은 고딕"/>
              </a:rPr>
              <a:t>“어떤 상권이 더 취약한가”는 불명확하다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서울 강남구와 강원 춘천시, 2025년 7월~12월 184일 동안의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카드소비 · 유동인구 · 기상 데이터를 결합해 확인했다.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8C8C8C"/>
                </a:solidFill>
                <a:latin typeface="맑은 고딕"/>
              </a:rPr>
              <a:t>핵심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222222"/>
                </a:solidFill>
                <a:latin typeface="맑은 고딕"/>
              </a:rPr>
              <a:t>기후위기는 상권을 균일하게 위협하지 않는다.</a:t>
            </a:r>
          </a:p>
          <a:p>
            <a:pPr algn="ctr">
              <a:lnSpc>
                <a:spcPct val="140000"/>
              </a:lnSpc>
            </a:pPr>
          </a:p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222222"/>
                </a:solidFill>
                <a:latin typeface="맑은 고딕"/>
              </a:rPr>
              <a:t>외지 방문객 매출 비중이 높은 관광의존형 상권은</a:t>
            </a:r>
          </a:p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222222"/>
                </a:solidFill>
                <a:latin typeface="맑은 고딕"/>
              </a:rPr>
              <a:t>호우 시 방문객 소비가 지역주민 대비 최대 3배 더 크게 줄어</a:t>
            </a:r>
          </a:p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222222"/>
                </a:solidFill>
                <a:latin typeface="맑은 고딕"/>
              </a:rPr>
              <a:t>구조적으로 취약하다.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2222"/>
                </a:solidFill>
                <a:latin typeface="맑은 고딕"/>
              </a:rPr>
              <a:t>어떤 데이터로 확인했나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57400"/>
            <a:ext cx="12191695" cy="320040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73152" cy="914400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2222"/>
                </a:solidFill>
                <a:latin typeface="맑은 고딕"/>
              </a:rPr>
              <a:t>신한카드 소비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8C8C"/>
                </a:solidFill>
                <a:latin typeface="맑은 고딕"/>
              </a:rPr>
              <a:t>184만+180만 행 — 날짜·지역·업종·고객거주지별 결제금액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246120"/>
            <a:ext cx="12191695" cy="320040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73152" cy="914400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2222"/>
                </a:solidFill>
                <a:latin typeface="맑은 고딕"/>
              </a:rPr>
              <a:t>SK텔레콤 유동인구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8C8C"/>
                </a:solidFill>
                <a:latin typeface="맑은 고딕"/>
              </a:rPr>
              <a:t>좌표 격자 단위 유동인구 (성별·연령·시간대·요일)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34840"/>
            <a:ext cx="12191695" cy="320040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73152" cy="914400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2222"/>
                </a:solidFill>
                <a:latin typeface="맑은 고딕"/>
              </a:rPr>
              <a:t>기상청 ASOS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8C8C"/>
                </a:solidFill>
                <a:latin typeface="맑은 고딕"/>
              </a:rPr>
              <a:t>서울·춘천 시간자료 → 일자료로 집계 (기온·강수량 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B6FA0"/>
                </a:solidFill>
                <a:latin typeface="맑은 고딕"/>
              </a:rPr>
              <a:t>→ 날짜×지역 단위로 병합 (368행 = 184일 × 2지역)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2222"/>
                </a:solidFill>
                <a:latin typeface="맑은 고딕"/>
              </a:rPr>
              <a:t>분석 방법 (간단히)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회귀분석으로 월 · 요일 · 공휴일 효과를 통제하고,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비와 폭염의 순수한 효과만 따로 추정했다.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· 시계열 자기상관 보정 (HAC 표준오차)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· 다중검정 보정 (FDR)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· 결론이 특정 기준값에 좌우되지 않는지 강건성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8C8C"/>
                </a:solidFill>
                <a:latin typeface="맑은 고딕"/>
              </a:rPr>
              <a:t>상세 방법론은 별첨 기타자료(README.md) 참고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2222"/>
                </a:solidFill>
                <a:latin typeface="맑은 고딕"/>
              </a:rPr>
              <a:t>근거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C8C8C"/>
                </a:solidFill>
                <a:latin typeface="맑은 고딕"/>
              </a:rPr>
              <a:t>‘지역 전체’로 보면 애매하다</a:t>
            </a:r>
          </a:p>
        </p:txBody>
      </p:sp>
      <p:pic>
        <p:nvPicPr>
          <p:cNvPr id="5" name="Picture 4" descr="pt_01_reg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6096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강남은 신뢰구간이 0을 걸쳐 유의하지 않음 → 고객을 나눠봐야 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2222"/>
                </a:solidFill>
                <a:latin typeface="맑은 고딕"/>
              </a:rPr>
              <a:t>근거 ② —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C8C8C"/>
                </a:solidFill>
                <a:latin typeface="맑은 고딕"/>
              </a:rPr>
              <a:t>‘고객 구성’으로 쪼개면 뚜렷하다</a:t>
            </a:r>
          </a:p>
        </p:txBody>
      </p:sp>
      <p:pic>
        <p:nvPicPr>
          <p:cNvPr id="5" name="Picture 4" descr="pt_02_visitor_local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춘천: 타 시도 방문객 −19.1% vs 동일 시도 거주자 −6.4% (둘 다 p&lt;0.001, 신뢰구간 안 겹침)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2222"/>
                </a:solidFill>
                <a:latin typeface="맑은 고딕"/>
              </a:rPr>
              <a:t>근거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C8C8C"/>
                </a:solidFill>
                <a:latin typeface="맑은 고딕"/>
              </a:rPr>
              <a:t>우연이 아니다 (강건성 점검)</a:t>
            </a:r>
          </a:p>
        </p:txBody>
      </p:sp>
      <p:pic>
        <p:nvPicPr>
          <p:cNvPr id="5" name="Picture 4" descr="pt_03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665018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호우 기준 15~40mm 전 구간에서 격차 유지, 전일 지연효과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2222"/>
                </a:solidFill>
                <a:latin typeface="맑은 고딕"/>
              </a:rPr>
              <a:t>시사점 / 제언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45B5B"/>
                </a:solidFill>
                <a:latin typeface="맑은 고딕"/>
              </a:rPr>
              <a:t>지자체 · 관광공사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맑은 고딕"/>
              </a:rPr>
              <a:t>외지 방문객 매출 비중만으로 저비용 “상권 기후 취약도” 지표화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45B5B"/>
                </a:solidFill>
                <a:latin typeface="맑은 고딕"/>
              </a:rPr>
              <a:t>소상공인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880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맑은 고딕"/>
              </a:rPr>
              <a:t>호우 예보 시 방문객 이탈 방어책 (취소 유연화, 실내 대체 프로그램) — 합리적 추정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45B5B"/>
                </a:solidFill>
                <a:latin typeface="맑은 고딕"/>
              </a:rPr>
              <a:t>카드사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023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맑은 고딕"/>
              </a:rPr>
              <a:t>업종·지역별 비 민감도를 소상공인 리스크 상품의 초기 근거로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45B5B"/>
                </a:solidFill>
                <a:latin typeface="맑은 고딕"/>
              </a:rPr>
              <a:t>일반화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166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“외지 방문객 비중” 지표는 다른 관광도시에도 적용 가능한 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2222"/>
                </a:solidFill>
                <a:latin typeface="맑은 고딕"/>
              </a:rPr>
              <a:t>한계 (정직하게 명시)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· 기상 관측소 1곳/도시 — 강남구는 종로구 관측소 대리값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· SK 유동인구는 월×요일 평균 패턴, 일별 실측 아님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· 표본 지역 2곳뿐 — 단, “외지 방문객 비중” 지표 자체는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222222"/>
                </a:solidFill>
                <a:latin typeface="맑은 고딕"/>
              </a:rPr>
              <a:t>  다른 지역에도 적용 가능한 일반화된 틀로 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8C8C8C"/>
                </a:solidFill>
                <a:latin typeface="맑은 고딕"/>
              </a:rPr>
              <a:t>부록 (Q&amp;A 대비 백업 슬라이드)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C8C8C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